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media/image3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257" r:id="rId5"/>
    <p:sldId id="3583" r:id="rId6"/>
    <p:sldId id="3584" r:id="rId7"/>
    <p:sldId id="3585" r:id="rId8"/>
    <p:sldId id="3586" r:id="rId9"/>
    <p:sldId id="3587" r:id="rId10"/>
    <p:sldId id="3588" r:id="rId17"/>
    <p:sldId id="3589" r:id="rId1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29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410248C-FD5A-DCC4-52A7-7BB02679EF7B}" name="沛慈 吳" initials="沛吳" userId="1c87ba8432dcdb57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E1E5"/>
    <a:srgbClr val="1B6AA2"/>
    <a:srgbClr val="48B49C"/>
    <a:srgbClr val="1767AD"/>
    <a:srgbClr val="11B7C4"/>
    <a:srgbClr val="0000FF"/>
    <a:srgbClr val="1F4E79"/>
    <a:srgbClr val="8DDE82"/>
    <a:srgbClr val="53EBE3"/>
    <a:srgbClr val="19B8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5BE263C-DBD7-4A20-BB59-AAB30ACAA65A}" styleName="中等深淺樣式 3 - 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中等深淺樣式 1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498" autoAdjust="0"/>
  </p:normalViewPr>
  <p:slideViewPr>
    <p:cSldViewPr snapToGrid="0" showGuides="1">
      <p:cViewPr varScale="1">
        <p:scale>
          <a:sx n="111" d="100"/>
          <a:sy n="111" d="100"/>
        </p:scale>
        <p:origin x="594" y="114"/>
      </p:cViewPr>
      <p:guideLst>
        <p:guide orient="horz" pos="2160"/>
        <p:guide pos="52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8/10/relationships/authors" Target="authors.xml"/><Relationship Id="rId17" Type="http://schemas.openxmlformats.org/officeDocument/2006/relationships/slide" Target="slides/slide7.xml"/><Relationship Id="rId18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5DEAA4-29EC-4C07-BC38-D48AFCBE6FCB}" type="datetimeFigureOut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5972E4-BE81-4376-9BD0-FDCBC3B7C8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6681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5972E4-BE81-4376-9BD0-FDCBC3B7C816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04691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新增圈註：R1，原表目前預估/達成率是加權商機，尚缺年度認列。R3，資產管理高毛利穩定金流未有經常性費率、毛利和回款證據。R6，AIDC年度10億目前為商機池。</a:t>
            </a:r>
          </a:p>
          <a:p>
            <a:r>
              <a:t>詳見2027商業計畫_審閱摘要_20261006.md。原文字及原數值保留，未擅自修改。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R2：台糖兩案加權550,000,000元，52.6%合計、86.9%建坤類別。兩案S1/40%，同客戶22328與同擁有者。需核對19MW是否含明正6MW。</a:t>
            </a:r>
          </a:p>
          <a:p>
            <a:r>
              <a:t>R4：高雄2027/10開工、2028/10完工；明正開工2026/10早於2027/3決標與5月簽約。</a:t>
            </a:r>
          </a:p>
          <a:p>
            <a:r>
              <a:t>R5：津谷、和富、城鋒S4/進行中且預計簽約日在未來，不能僅靠100%宣告在手訂單。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R4：日煙S-04153預計2027/3/31決標及簽約，施工2026/6/1、完工2027/2/1，日期先確認不要擅改。其1.05億加權額被放在Q2，不能据此排2027工量。</a:t>
            </a:r>
          </a:p>
          <a:p>
            <a:r>
              <a:t>R5：東南彰化及台中S4/進行中且未到預計簽約日；請核對合約。</a:t>
            </a:r>
          </a:p>
          <a:p>
            <a:r>
              <a:t>R7：前10大加權304,636,018元，除以413,921,102元為73.6%，不是76%；風險分散度佳缺佐證。38與37案差114,286元對應跨年台電申設案納入規則，詳見MD。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R4：按原37案EPC及8案建坤的施工月份、不看年份，可重現表格四季金額，四捨五入差異除外。日煙2026/6、明正2026/10仍落入Q2/Q4，需重新核對。</a:t>
            </a:r>
          </a:p>
          <a:p>
            <a:r>
              <a:t>R2：Q4合計571,537,355元為原表合計54.6%；台糖高雄占本頁Q4建坤金额76%是正確，不與第4頁前十大占比错误混淆。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R6：機會清單20261005，三案總額50億元、勝率20%，加權10億元。三案客戶22849台灣大哥大、2027/12簽約、2028/6開工、2029/6完工。不能將整案加權金額直接等同FY2028年度營收，亦不能以三場址視為三獨立客戶。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詳細證據、重算公式、敏感度假設與五個決策問題，見同資料夾MD摘要。</a:t>
            </a:r>
          </a:p>
          <a:p>
            <a:r>
              <a:t>紅色優先處理R1–R6；R7屬橙色數值及規則修正。台糖容量範圍重疊目前只是待確認，沒有認定已重複。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這五個問題是修改方向，不代表既有計畫已有答案。</a:t>
            </a:r>
          </a:p>
          <a:p>
            <a:r>
              <a:t>1. 10 億是什麼口徑？ 2027 可認列營收、簽約額，還是加權商機池？ 改：目標／預測／商機三層表</a:t>
            </a:r>
          </a:p>
          <a:p>
            <a:r>
              <a:t>2. 資產管理靠什麼賺錢？ 一次性工程／資產交易，還是可續約管理與維運？ 改：商模、認列主體與毛利</a:t>
            </a:r>
          </a:p>
          <a:p>
            <a:r>
              <a:t>3. 台糖失利，如何取捨？ 可接受下修多少；用哪些具名案件替補？ 改：三情境、替補與啟動條件</a:t>
            </a:r>
          </a:p>
          <a:p>
            <a:r>
              <a:t>4. 接案的硬邊界在哪？ 毛利底線、峰值墊款上限及同時施工容量是多少？ 改：報價、授信、人力與排程</a:t>
            </a:r>
          </a:p>
          <a:p>
            <a:r>
              <a:t>5. AIDC 何時才可加碼？ 2027 要驗證到何種成果，才承諾 2028 財務目標？ 改：驗證預算、里程碑與停損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4B9340-9386-C14E-16DB-2CAFD6DF98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B9918BD-CB18-0273-0ECC-AD05465000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0465DF4-A0E7-AC5A-092F-DD4C4ADFA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39A2A-7236-BF42-ACD2-DED2E4378772}" type="datetimeFigureOut">
              <a:rPr kumimoji="1" lang="zh-TW" altLang="en-US" smtClean="0"/>
              <a:t>2026/10/6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4C4E93C-8357-8465-5F4F-33B617060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4771509-7111-10D4-FC68-15E701A34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3450-6EED-944D-A637-8E0A4C3A9C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34277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10CCD0-E227-777D-1CFC-BE81B399D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CA292D-5BA9-710D-05BB-469F5AD21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A6BDC37-54FF-4D5F-591F-74E071061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39A2A-7236-BF42-ACD2-DED2E4378772}" type="datetimeFigureOut">
              <a:rPr kumimoji="1" lang="zh-TW" altLang="en-US" smtClean="0"/>
              <a:t>2026/10/6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F4EEB10-B212-3A86-A507-0464A8F9B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25D1FA9-6C3E-6BD9-85A0-0263D19AC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3450-6EED-944D-A637-8E0A4C3A9C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20756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3398D9-DB4B-AB59-76A2-8F6456915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A41598C-0EA8-0228-4432-68F53FE5B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556DF4E-F34E-ADC4-E7B0-F231DC410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39A2A-7236-BF42-ACD2-DED2E4378772}" type="datetimeFigureOut">
              <a:rPr kumimoji="1" lang="zh-TW" altLang="en-US" smtClean="0"/>
              <a:t>2026/10/6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A1FDB0-D6C7-870D-5FC7-8A29DBA5D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F52A999-498F-520B-7D14-E869C47E9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3450-6EED-944D-A637-8E0A4C3A9C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13018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D69AA8-5260-16AD-BE67-E8928568B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55C8BD-84AD-3B22-81B7-DBFB55A77C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E9E78FE-C54F-A85B-2B6F-3BB4C40E2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C4D3FD1-CD8C-083E-D702-C7B0F8AA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39A2A-7236-BF42-ACD2-DED2E4378772}" type="datetimeFigureOut">
              <a:rPr kumimoji="1" lang="zh-TW" altLang="en-US" smtClean="0"/>
              <a:t>2026/10/6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451AC5A-357D-7741-302C-A7C6A5730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8D4DC38-4CD5-D69B-4074-9ABC51F28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3450-6EED-944D-A637-8E0A4C3A9C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42987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FAD4EA-D83C-9818-B1E3-636FF9D79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31C7EA9-0DC7-3053-98CB-EBF8CFA9C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1571E14-E7B3-E9E6-5612-CEE4990E76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73110FA-3DD1-486D-96F6-EEB58ED8B4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D544C7E-7DD4-06F8-0EA6-04A4DD56AA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CD65ECF-1B24-1560-9524-EE2C0706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39A2A-7236-BF42-ACD2-DED2E4378772}" type="datetimeFigureOut">
              <a:rPr kumimoji="1" lang="zh-TW" altLang="en-US" smtClean="0"/>
              <a:t>2026/10/6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C78C096-1EC6-0227-CA5E-1A58FDF85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09739A5-204E-00AB-CCA1-8E95AD03D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3450-6EED-944D-A637-8E0A4C3A9C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91383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5C192D-8268-558A-9538-576756D04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01FF0C9-5572-2381-F7CE-851F19B98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39A2A-7236-BF42-ACD2-DED2E4378772}" type="datetimeFigureOut">
              <a:rPr kumimoji="1" lang="zh-TW" altLang="en-US" smtClean="0"/>
              <a:t>2026/10/6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705371F-1BAA-93C6-AB72-4C714D7F3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11782A1-DC1D-9FEB-6B58-85E081BE2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3450-6EED-944D-A637-8E0A4C3A9C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73283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B4EC91B-0679-4F5B-69AB-5B88C4516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39A2A-7236-BF42-ACD2-DED2E4378772}" type="datetimeFigureOut">
              <a:rPr kumimoji="1" lang="zh-TW" altLang="en-US" smtClean="0"/>
              <a:t>2026/10/6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4C4FBE4-966A-E729-00EE-4C74EE81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038C3F2-3EC9-254A-FC2D-9D5F8C94B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3450-6EED-944D-A637-8E0A4C3A9C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85270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D2CAD4-AC66-7E21-2CA2-CDE87BFE5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E22456-608F-8215-33D7-29B294D9B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AD25D0A-785B-D629-1C49-01023F93A3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A244C8E-C4DF-159E-F9DD-324AAC739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39A2A-7236-BF42-ACD2-DED2E4378772}" type="datetimeFigureOut">
              <a:rPr kumimoji="1" lang="zh-TW" altLang="en-US" smtClean="0"/>
              <a:t>2026/10/6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499F213-1713-96DC-2FEC-F6139E59D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FE29342-98C0-9599-4E51-C922E0674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3450-6EED-944D-A637-8E0A4C3A9C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75897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85F4DE-31ED-3585-0059-4368BB51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EE91310-1DCB-9663-62D8-7D8A827263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E4AECFA-442D-4032-4601-F1A8C38006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68C7330-1B4B-16A8-8DC1-595079550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39A2A-7236-BF42-ACD2-DED2E4378772}" type="datetimeFigureOut">
              <a:rPr kumimoji="1" lang="zh-TW" altLang="en-US" smtClean="0"/>
              <a:t>2026/10/6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5E7B60E-CA09-91C8-8482-41F6486EA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81114A6-4696-9129-BAD1-17EF06CF8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3450-6EED-944D-A637-8E0A4C3A9C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18348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CC37A1-38CB-B1AB-BCAC-6D43FC67B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7078EE1-C675-8918-8E1A-841CF99DEC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BED0156-6AC6-088C-8220-E3EE9AFC2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39A2A-7236-BF42-ACD2-DED2E4378772}" type="datetimeFigureOut">
              <a:rPr kumimoji="1" lang="zh-TW" altLang="en-US" smtClean="0"/>
              <a:t>2026/10/6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14A3345-EA7D-F618-DCDE-9D474FBBB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FD8E23E-7EC4-12E0-791D-56A96BA95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3450-6EED-944D-A637-8E0A4C3A9C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67490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2B12758-B221-1F67-0EDD-8A2BFF9DCC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765BA44-7C5B-2ED8-D734-DA135E550F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9F59867-8790-2707-4048-CDECDA6C0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39A2A-7236-BF42-ACD2-DED2E4378772}" type="datetimeFigureOut">
              <a:rPr kumimoji="1" lang="zh-TW" altLang="en-US" smtClean="0"/>
              <a:t>2026/10/6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30CE3CF-64E9-FA44-079C-E01D1CA30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6E259B6-FC3B-D3EA-8411-EFD5A1D16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3450-6EED-944D-A637-8E0A4C3A9C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971021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1FD0604-5F2C-6BF2-6F4E-274D561C1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C0609E1-F9BE-F8A9-0DA5-673122185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205330A-41EA-787D-290A-613FAC63F7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039A2A-7236-BF42-ACD2-DED2E4378772}" type="datetimeFigureOut">
              <a:rPr kumimoji="1" lang="zh-TW" altLang="en-US" smtClean="0"/>
              <a:t>2026/10/6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A5357F4-C323-D8DE-0E14-5533DF1E0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F1BE865-0886-B7FC-C64A-F8CB1CA34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E43450-6EED-944D-A637-8E0A4C3A9C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61528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svg"/><Relationship Id="rId4" Type="http://schemas.openxmlformats.org/officeDocument/2006/relationships/image" Target="../media/image4.sv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方塊 11">
            <a:extLst>
              <a:ext uri="{FF2B5EF4-FFF2-40B4-BE49-F238E27FC236}">
                <a16:creationId xmlns:a16="http://schemas.microsoft.com/office/drawing/2014/main" id="{1BD34FDD-9EAE-E2BF-7F1F-1F1667E07E7B}"/>
              </a:ext>
            </a:extLst>
          </p:cNvPr>
          <p:cNvSpPr txBox="1"/>
          <p:nvPr/>
        </p:nvSpPr>
        <p:spPr>
          <a:xfrm>
            <a:off x="758397" y="3489960"/>
            <a:ext cx="6012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600" b="0" i="0" u="none" strike="noStrike" kern="1200" cap="none" spc="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Light" panose="020B0402040504020204" pitchFamily="34" charset="0"/>
                <a:ea typeface="GenSekiGothic TW R" panose="020B0500000000000000" pitchFamily="34" charset="-120"/>
                <a:cs typeface="Noto Sans Light" panose="020B0402040504020204" pitchFamily="34" charset="0"/>
              </a:rPr>
              <a:t>南區預算報告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C4094F0-C06D-8C9C-DDEA-A994C378B3B1}"/>
              </a:ext>
            </a:extLst>
          </p:cNvPr>
          <p:cNvSpPr txBox="1"/>
          <p:nvPr/>
        </p:nvSpPr>
        <p:spPr>
          <a:xfrm>
            <a:off x="804583" y="3028890"/>
            <a:ext cx="6012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8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nSekiGothic TW R" panose="020B0500000000000000" pitchFamily="34" charset="-120"/>
                <a:ea typeface="GenSekiGothic TW R" panose="020B0500000000000000" pitchFamily="34" charset="-120"/>
                <a:cs typeface="Noto Sans Light" panose="020B0402040504020204" pitchFamily="34" charset="0"/>
              </a:rPr>
              <a:t>進金生能源服務</a:t>
            </a:r>
            <a:r>
              <a:rPr kumimoji="1" lang="en-US" altLang="zh-TW" sz="18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nSekiGothic TW R" panose="020B0500000000000000" pitchFamily="34" charset="-120"/>
                <a:ea typeface="GenSekiGothic TW R" panose="020B0500000000000000" pitchFamily="34" charset="-120"/>
                <a:cs typeface="Noto Sans Light" panose="020B0402040504020204" pitchFamily="34" charset="0"/>
              </a:rPr>
              <a:t>(</a:t>
            </a:r>
            <a:r>
              <a:rPr kumimoji="1" lang="zh-TW" altLang="en-US" sz="18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nSekiGothic TW R" panose="020B0500000000000000" pitchFamily="34" charset="-120"/>
                <a:ea typeface="GenSekiGothic TW R" panose="020B0500000000000000" pitchFamily="34" charset="-120"/>
                <a:cs typeface="Noto Sans Light" panose="020B0402040504020204" pitchFamily="34" charset="0"/>
              </a:rPr>
              <a:t>股</a:t>
            </a:r>
            <a:r>
              <a:rPr kumimoji="1" lang="en-US" altLang="zh-TW" sz="18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nSekiGothic TW R" panose="020B0500000000000000" pitchFamily="34" charset="-120"/>
                <a:ea typeface="GenSekiGothic TW R" panose="020B0500000000000000" pitchFamily="34" charset="-120"/>
                <a:cs typeface="Noto Sans Light" panose="020B0402040504020204" pitchFamily="34" charset="0"/>
              </a:rPr>
              <a:t>)</a:t>
            </a:r>
            <a:r>
              <a:rPr kumimoji="1" lang="zh-TW" altLang="en-US" sz="18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nSekiGothic TW R" panose="020B0500000000000000" pitchFamily="34" charset="-120"/>
                <a:ea typeface="GenSekiGothic TW R" panose="020B0500000000000000" pitchFamily="34" charset="-120"/>
                <a:cs typeface="Noto Sans Light" panose="020B0402040504020204" pitchFamily="34" charset="0"/>
              </a:rPr>
              <a:t>公司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B5AE22F-BCC1-8CAF-A327-6595BEDA1F02}"/>
              </a:ext>
            </a:extLst>
          </p:cNvPr>
          <p:cNvSpPr txBox="1"/>
          <p:nvPr/>
        </p:nvSpPr>
        <p:spPr>
          <a:xfrm>
            <a:off x="804583" y="4822489"/>
            <a:ext cx="6012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nSekiGothic TW L" panose="020B0500000000000000" pitchFamily="34" charset="-120"/>
                <a:ea typeface="GenSekiGothic TW L" panose="020B0500000000000000" pitchFamily="34" charset="-120"/>
                <a:cs typeface="Noto Sans Light" panose="020B0402040504020204" pitchFamily="34" charset="0"/>
              </a:rPr>
              <a:t>2026.10.06</a:t>
            </a:r>
            <a:endParaRPr kumimoji="1" lang="zh-TW" altLang="en-US" sz="1800" b="0" i="0" u="none" strike="noStrike" kern="1200" cap="none" spc="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nSekiGothic TW L" panose="020B0500000000000000" pitchFamily="34" charset="-120"/>
              <a:ea typeface="GenSekiGothic TW L" panose="020B0500000000000000" pitchFamily="34" charset="-120"/>
              <a:cs typeface="Noto Sans Light" panose="020B04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79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CDA559-632E-5BC2-E16E-488754CE7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箭號: ＞形 22">
            <a:extLst>
              <a:ext uri="{FF2B5EF4-FFF2-40B4-BE49-F238E27FC236}">
                <a16:creationId xmlns:a16="http://schemas.microsoft.com/office/drawing/2014/main" id="{0EF38451-135D-309E-462C-53B0A7297753}"/>
              </a:ext>
            </a:extLst>
          </p:cNvPr>
          <p:cNvSpPr/>
          <p:nvPr/>
        </p:nvSpPr>
        <p:spPr>
          <a:xfrm>
            <a:off x="6795449" y="1270357"/>
            <a:ext cx="2066669" cy="415237"/>
          </a:xfrm>
          <a:prstGeom prst="chevron">
            <a:avLst/>
          </a:prstGeom>
          <a:solidFill>
            <a:srgbClr val="BEE1E5"/>
          </a:solidFill>
          <a:ln>
            <a:solidFill>
              <a:srgbClr val="BEE1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1" name="箭號: ＞形 20">
            <a:extLst>
              <a:ext uri="{FF2B5EF4-FFF2-40B4-BE49-F238E27FC236}">
                <a16:creationId xmlns:a16="http://schemas.microsoft.com/office/drawing/2014/main" id="{1760A569-760C-26E6-CD77-A49D88A4AEAE}"/>
              </a:ext>
            </a:extLst>
          </p:cNvPr>
          <p:cNvSpPr/>
          <p:nvPr/>
        </p:nvSpPr>
        <p:spPr>
          <a:xfrm>
            <a:off x="8803690" y="1262559"/>
            <a:ext cx="2066669" cy="415237"/>
          </a:xfrm>
          <a:prstGeom prst="chevron">
            <a:avLst/>
          </a:prstGeom>
          <a:solidFill>
            <a:srgbClr val="1B6AA2"/>
          </a:solidFill>
          <a:ln>
            <a:solidFill>
              <a:srgbClr val="1B6A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2588215-B009-9BB2-F404-A5DD6726B8FE}"/>
              </a:ext>
            </a:extLst>
          </p:cNvPr>
          <p:cNvSpPr txBox="1"/>
          <p:nvPr/>
        </p:nvSpPr>
        <p:spPr>
          <a:xfrm>
            <a:off x="1710897" y="568281"/>
            <a:ext cx="6012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FY27</a:t>
            </a:r>
            <a:r>
              <a:rPr kumimoji="1" lang="zh-TW" altLang="en-US" sz="3600" b="1" i="0" u="none" strike="noStrike" kern="1200" cap="none" spc="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Noto Sans Light" panose="020B0402040504020204" pitchFamily="34" charset="0"/>
              </a:rPr>
              <a:t>南區預算</a:t>
            </a:r>
            <a:endParaRPr kumimoji="1" lang="en-US" altLang="zh-TW" sz="3600" b="1" i="0" u="none" strike="noStrike" kern="1200" cap="none" spc="1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Noto Sans Light" panose="020B0402040504020204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65005E3-99CA-3CB8-494D-23724E15E3CE}"/>
              </a:ext>
            </a:extLst>
          </p:cNvPr>
          <p:cNvSpPr txBox="1"/>
          <p:nvPr/>
        </p:nvSpPr>
        <p:spPr>
          <a:xfrm>
            <a:off x="1278865" y="1417637"/>
            <a:ext cx="50795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1B6AA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</a:rPr>
              <a:t>執行摘要</a:t>
            </a:r>
            <a:br>
              <a:rPr lang="en-US" altLang="zh-TW" sz="1800" b="1" dirty="0">
                <a:solidFill>
                  <a:srgbClr val="1B6AA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</a:rPr>
            </a:br>
            <a:br>
              <a:rPr lang="en-US" altLang="zh-TW" sz="1800" b="1" dirty="0">
                <a:solidFill>
                  <a:srgbClr val="1B6AA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</a:rPr>
            </a:b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統包工程＋資產管理合計 </a:t>
            </a:r>
            <a:r>
              <a:rPr lang="zh-TW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1,046,583,908 元</a:t>
            </a:r>
            <a:endParaRPr lang="zh-TW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b="1" dirty="0">
              <a:solidFill>
                <a:srgbClr val="1B6AA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1CF4C96E-D8B3-0E74-39E4-AED9DEE66812}"/>
              </a:ext>
            </a:extLst>
          </p:cNvPr>
          <p:cNvCxnSpPr/>
          <p:nvPr/>
        </p:nvCxnSpPr>
        <p:spPr>
          <a:xfrm>
            <a:off x="1125745" y="1392386"/>
            <a:ext cx="0" cy="125083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105E1390-8DC7-82FD-7E69-E01990DFC3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2485"/>
              </p:ext>
            </p:extLst>
          </p:nvPr>
        </p:nvGraphicFramePr>
        <p:xfrm>
          <a:off x="905775" y="4327374"/>
          <a:ext cx="10191665" cy="1797299"/>
        </p:xfrm>
        <a:graphic>
          <a:graphicData uri="http://schemas.openxmlformats.org/drawingml/2006/table">
            <a:tbl>
              <a:tblPr/>
              <a:tblGrid>
                <a:gridCol w="3474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3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3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97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11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300" b="1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業務類別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5F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300" b="1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原訂目標（元）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5F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300" b="1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目前預估（元）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5F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300" b="1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達成率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5F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3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①統包工程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400,000,000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413,921,102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103.5%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3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②資產管理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600,000,000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632,662,806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105.4%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6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300" b="1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合計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1,000,000,000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1,046,583,908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104.7%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1">
            <a:extLst>
              <a:ext uri="{FF2B5EF4-FFF2-40B4-BE49-F238E27FC236}">
                <a16:creationId xmlns:a16="http://schemas.microsoft.com/office/drawing/2014/main" id="{DC0243BF-D428-6BA5-B5ED-430DB3AFE011}"/>
              </a:ext>
            </a:extLst>
          </p:cNvPr>
          <p:cNvSpPr/>
          <p:nvPr/>
        </p:nvSpPr>
        <p:spPr>
          <a:xfrm>
            <a:off x="998135" y="6207373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zh-CN" altLang="en-US" sz="1600" dirty="0">
                <a:solidFill>
                  <a:srgbClr val="124E73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useoModerno Medium" pitchFamily="34" charset="-120"/>
              </a:rPr>
              <a:t>統包工程（37案）</a:t>
            </a:r>
            <a:r>
              <a:rPr lang="zh-TW" altLang="en-US" sz="1600" dirty="0">
                <a:solidFill>
                  <a:srgbClr val="124E73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useoModerno Medium" pitchFamily="34" charset="-120"/>
              </a:rPr>
              <a:t>           </a:t>
            </a:r>
            <a:r>
              <a:rPr lang="zh-CN" altLang="en-US" sz="1600" dirty="0">
                <a:solidFill>
                  <a:srgbClr val="124E73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useoModerno Medium" pitchFamily="34" charset="-120"/>
              </a:rPr>
              <a:t>資產管理（8案）</a:t>
            </a:r>
            <a:endParaRPr lang="zh-CN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F744A550-84E1-1335-37EF-727B470C4167}"/>
              </a:ext>
            </a:extLst>
          </p:cNvPr>
          <p:cNvSpPr/>
          <p:nvPr/>
        </p:nvSpPr>
        <p:spPr>
          <a:xfrm>
            <a:off x="6885022" y="1776578"/>
            <a:ext cx="2066669" cy="270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600" dirty="0">
                <a:solidFill>
                  <a:srgbClr val="2B41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useoModerno Medium" pitchFamily="34" charset="-120"/>
              </a:rPr>
              <a:t>FY2027 結構轉型</a:t>
            </a:r>
            <a:endParaRPr lang="zh-CN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C0FB839F-10C4-C341-30BF-20B6680910A4}"/>
              </a:ext>
            </a:extLst>
          </p:cNvPr>
          <p:cNvSpPr/>
          <p:nvPr/>
        </p:nvSpPr>
        <p:spPr>
          <a:xfrm>
            <a:off x="6737022" y="2138530"/>
            <a:ext cx="1929132" cy="607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zh-CN" altLang="en-US" sz="1400" dirty="0">
                <a:solidFill>
                  <a:srgbClr val="2B41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ource Sans 3" pitchFamily="34" charset="-120"/>
              </a:rPr>
              <a:t>統包工程 4 億 ＋ 資產管理 6 億，合計目標 10 億</a:t>
            </a:r>
            <a:endParaRPr lang="zh-CN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C750A38A-D4DC-6468-340B-19EEADCBCE47}"/>
              </a:ext>
            </a:extLst>
          </p:cNvPr>
          <p:cNvSpPr/>
          <p:nvPr/>
        </p:nvSpPr>
        <p:spPr>
          <a:xfrm>
            <a:off x="9073429" y="1778773"/>
            <a:ext cx="1684788" cy="270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600" dirty="0">
                <a:solidFill>
                  <a:srgbClr val="2B41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useoModerno Medium" pitchFamily="34" charset="-120"/>
              </a:rPr>
              <a:t>FY2028 算力</a:t>
            </a:r>
            <a:endParaRPr lang="zh-CN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42437ACB-A2FE-B44B-088A-A8F2F38F38DD}"/>
              </a:ext>
            </a:extLst>
          </p:cNvPr>
          <p:cNvSpPr/>
          <p:nvPr/>
        </p:nvSpPr>
        <p:spPr>
          <a:xfrm>
            <a:off x="8882488" y="2125755"/>
            <a:ext cx="2066669" cy="676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zh-CN" altLang="en-US" sz="1400" dirty="0">
                <a:solidFill>
                  <a:srgbClr val="2B41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ource Sans 3" pitchFamily="34" charset="-120"/>
              </a:rPr>
              <a:t>資料中心（AIDC）整廠電力交付，年度目標 10 億</a:t>
            </a:r>
            <a:endParaRPr lang="zh-CN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0" name="圖形 19" descr="計算機 以實心填滿">
            <a:extLst>
              <a:ext uri="{FF2B5EF4-FFF2-40B4-BE49-F238E27FC236}">
                <a16:creationId xmlns:a16="http://schemas.microsoft.com/office/drawing/2014/main" id="{FED7A751-32CC-D91D-9346-5FA400932D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40937" y="1313943"/>
            <a:ext cx="363853" cy="363853"/>
          </a:xfrm>
          <a:prstGeom prst="rect">
            <a:avLst/>
          </a:prstGeom>
        </p:spPr>
      </p:pic>
      <p:pic>
        <p:nvPicPr>
          <p:cNvPr id="25" name="圖形 24" descr="光圈 外框">
            <a:extLst>
              <a:ext uri="{FF2B5EF4-FFF2-40B4-BE49-F238E27FC236}">
                <a16:creationId xmlns:a16="http://schemas.microsoft.com/office/drawing/2014/main" id="{01158374-6C44-CDF8-2327-3BA327E9F3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09634" y="1262559"/>
            <a:ext cx="415237" cy="415237"/>
          </a:xfrm>
          <a:prstGeom prst="rect">
            <a:avLst/>
          </a:prstGeom>
        </p:spPr>
      </p:pic>
      <p:sp>
        <p:nvSpPr>
          <p:cNvPr id="27" name="Shape 8">
            <a:extLst>
              <a:ext uri="{FF2B5EF4-FFF2-40B4-BE49-F238E27FC236}">
                <a16:creationId xmlns:a16="http://schemas.microsoft.com/office/drawing/2014/main" id="{9FFEB3EC-8256-C5D8-4B4A-20E9B556A1A1}"/>
              </a:ext>
            </a:extLst>
          </p:cNvPr>
          <p:cNvSpPr/>
          <p:nvPr/>
        </p:nvSpPr>
        <p:spPr>
          <a:xfrm>
            <a:off x="905775" y="2932981"/>
            <a:ext cx="2939314" cy="1182460"/>
          </a:xfrm>
          <a:prstGeom prst="roundRect">
            <a:avLst>
              <a:gd name="adj" fmla="val 1420"/>
            </a:avLst>
          </a:prstGeom>
          <a:solidFill>
            <a:srgbClr val="BEE1E5"/>
          </a:solidFill>
          <a:ln/>
        </p:spPr>
        <p:txBody>
          <a:bodyPr/>
          <a:lstStyle/>
          <a:p>
            <a:endParaRPr lang="zh-TW" altLang="en-US" sz="11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FB156C73-276E-A7AA-F14A-C86760A15FB5}"/>
              </a:ext>
            </a:extLst>
          </p:cNvPr>
          <p:cNvSpPr/>
          <p:nvPr/>
        </p:nvSpPr>
        <p:spPr>
          <a:xfrm>
            <a:off x="1048077" y="3040950"/>
            <a:ext cx="2797012" cy="174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100" dirty="0">
                <a:solidFill>
                  <a:srgbClr val="2B41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useoModerno Medium" pitchFamily="34" charset="-120"/>
              </a:rPr>
              <a:t>① 統包工程（EPC）</a:t>
            </a:r>
            <a:endParaRPr lang="zh-CN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97734903-4A1F-0C89-3B7C-532570DF6D67}"/>
              </a:ext>
            </a:extLst>
          </p:cNvPr>
          <p:cNvSpPr/>
          <p:nvPr/>
        </p:nvSpPr>
        <p:spPr>
          <a:xfrm>
            <a:off x="1048077" y="3334804"/>
            <a:ext cx="2566391" cy="59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zh-CN" altLang="en-US" sz="1100" b="1" dirty="0">
                <a:solidFill>
                  <a:srgbClr val="2B41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ource Sans 3 Bold" pitchFamily="34" charset="-120"/>
              </a:rPr>
              <a:t>目標 4.0 億 / 40%</a:t>
            </a:r>
            <a:endParaRPr lang="zh-CN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2B41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ource Sans 3" pitchFamily="34" charset="-120"/>
              </a:rPr>
              <a:t>聚焦科技自用屋頂、大學/防災微電網、車棚，維持高週轉率與現金流。</a:t>
            </a:r>
            <a:endParaRPr lang="zh-CN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Shape 11">
            <a:extLst>
              <a:ext uri="{FF2B5EF4-FFF2-40B4-BE49-F238E27FC236}">
                <a16:creationId xmlns:a16="http://schemas.microsoft.com/office/drawing/2014/main" id="{E8B05C82-2677-987E-EEF4-2D2F2FE436C5}"/>
              </a:ext>
            </a:extLst>
          </p:cNvPr>
          <p:cNvSpPr/>
          <p:nvPr/>
        </p:nvSpPr>
        <p:spPr>
          <a:xfrm>
            <a:off x="4393288" y="2958440"/>
            <a:ext cx="3087685" cy="1182460"/>
          </a:xfrm>
          <a:prstGeom prst="roundRect">
            <a:avLst>
              <a:gd name="adj" fmla="val 1420"/>
            </a:avLst>
          </a:prstGeom>
          <a:solidFill>
            <a:srgbClr val="BEE1E5"/>
          </a:solidFill>
          <a:ln/>
        </p:spPr>
        <p:txBody>
          <a:bodyPr/>
          <a:lstStyle/>
          <a:p>
            <a:endParaRPr lang="zh-TW" altLang="en-US" sz="11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C511DB5C-27EB-7CF1-796C-659FDAC4107B}"/>
              </a:ext>
            </a:extLst>
          </p:cNvPr>
          <p:cNvSpPr/>
          <p:nvPr/>
        </p:nvSpPr>
        <p:spPr>
          <a:xfrm>
            <a:off x="4498848" y="3060167"/>
            <a:ext cx="2797099" cy="174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100" dirty="0">
                <a:solidFill>
                  <a:srgbClr val="2B41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useoModerno Medium" pitchFamily="34" charset="-120"/>
              </a:rPr>
              <a:t>② 資產管理（建坤）</a:t>
            </a:r>
            <a:endParaRPr lang="zh-CN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8C6DD608-1031-248D-C6AF-D878C71E3F69}"/>
              </a:ext>
            </a:extLst>
          </p:cNvPr>
          <p:cNvSpPr/>
          <p:nvPr/>
        </p:nvSpPr>
        <p:spPr>
          <a:xfrm>
            <a:off x="4510495" y="3347337"/>
            <a:ext cx="2797099" cy="716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zh-CN" altLang="en-US" sz="1100" b="1" dirty="0">
                <a:solidFill>
                  <a:srgbClr val="2B41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ource Sans 3 Bold" pitchFamily="34" charset="-120"/>
              </a:rPr>
              <a:t>目標 6.0 億 / 60%</a:t>
            </a:r>
            <a:endParaRPr lang="zh-CN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2B41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ource Sans 3" pitchFamily="34" charset="-120"/>
              </a:rPr>
              <a:t>主攻台糖大案代操、老舊案場整新、電能管理，建立高毛利穩定金流。</a:t>
            </a:r>
            <a:endParaRPr lang="zh-CN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Shape 14">
            <a:extLst>
              <a:ext uri="{FF2B5EF4-FFF2-40B4-BE49-F238E27FC236}">
                <a16:creationId xmlns:a16="http://schemas.microsoft.com/office/drawing/2014/main" id="{2214D073-C9A5-A91B-3766-89FA2B022902}"/>
              </a:ext>
            </a:extLst>
          </p:cNvPr>
          <p:cNvSpPr/>
          <p:nvPr/>
        </p:nvSpPr>
        <p:spPr>
          <a:xfrm>
            <a:off x="8009843" y="2958440"/>
            <a:ext cx="3087598" cy="1182460"/>
          </a:xfrm>
          <a:prstGeom prst="roundRect">
            <a:avLst>
              <a:gd name="adj" fmla="val 1420"/>
            </a:avLst>
          </a:prstGeom>
          <a:solidFill>
            <a:srgbClr val="BEE1E5"/>
          </a:solidFill>
          <a:ln/>
        </p:spPr>
        <p:txBody>
          <a:bodyPr/>
          <a:lstStyle/>
          <a:p>
            <a:endParaRPr lang="zh-TW" altLang="en-US" sz="11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CB16C960-2A76-2899-C69E-2CE529391955}"/>
              </a:ext>
            </a:extLst>
          </p:cNvPr>
          <p:cNvSpPr/>
          <p:nvPr/>
        </p:nvSpPr>
        <p:spPr>
          <a:xfrm>
            <a:off x="8152145" y="3079133"/>
            <a:ext cx="2797012" cy="174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100" dirty="0">
                <a:solidFill>
                  <a:srgbClr val="2B41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useoModerno Medium" pitchFamily="34" charset="-120"/>
              </a:rPr>
              <a:t>③ 資料中心（AIDC）</a:t>
            </a:r>
            <a:endParaRPr lang="zh-CN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C2ECC4DD-ACA2-3692-5171-232CCF1AE33B}"/>
              </a:ext>
            </a:extLst>
          </p:cNvPr>
          <p:cNvSpPr/>
          <p:nvPr/>
        </p:nvSpPr>
        <p:spPr>
          <a:xfrm>
            <a:off x="8152145" y="3347337"/>
            <a:ext cx="2797012" cy="716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zh-CN" altLang="en-US" sz="1100" b="1" dirty="0">
                <a:solidFill>
                  <a:srgbClr val="2B41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ource Sans 3 Bold" pitchFamily="34" charset="-120"/>
              </a:rPr>
              <a:t>中長期目標 10.0 億</a:t>
            </a:r>
            <a:endParaRPr lang="zh-CN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2B41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ource Sans 3" pitchFamily="34" charset="-120"/>
              </a:rPr>
              <a:t>進能服定位為電力交付端統包，承接特高壓變電站與灰區不斷電備援，啟動第二成長曲線。</a:t>
            </a:r>
            <a:endParaRPr lang="zh-CN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6993642" y="4277082"/>
            <a:ext cx="4154090" cy="1897883"/>
          </a:xfrm>
          <a:prstGeom prst="ellipse">
            <a:avLst/>
          </a:prstGeom>
          <a:noFill/>
          <a:ln w="29209">
            <a:solidFill>
              <a:srgbClr val="CC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799064" y="4187952"/>
            <a:ext cx="438912" cy="256032"/>
          </a:xfrm>
          <a:prstGeom prst="roundRect">
            <a:avLst/>
          </a:prstGeom>
          <a:solidFill>
            <a:srgbClr val="C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</a:rPr>
              <a:t>R1</a:t>
            </a:r>
          </a:p>
        </p:txBody>
      </p:sp>
      <p:sp>
        <p:nvSpPr>
          <p:cNvPr id="46" name="Oval 45"/>
          <p:cNvSpPr/>
          <p:nvPr/>
        </p:nvSpPr>
        <p:spPr>
          <a:xfrm>
            <a:off x="4453128" y="3282696"/>
            <a:ext cx="2916936" cy="850392"/>
          </a:xfrm>
          <a:prstGeom prst="ellipse">
            <a:avLst/>
          </a:prstGeom>
          <a:noFill/>
          <a:ln w="29209">
            <a:solidFill>
              <a:srgbClr val="CC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958584" y="3172968"/>
            <a:ext cx="438912" cy="256032"/>
          </a:xfrm>
          <a:prstGeom prst="roundRect">
            <a:avLst/>
          </a:prstGeom>
          <a:solidFill>
            <a:srgbClr val="C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</a:rPr>
              <a:t>R3</a:t>
            </a:r>
          </a:p>
        </p:txBody>
      </p:sp>
      <p:sp>
        <p:nvSpPr>
          <p:cNvPr id="48" name="Oval 47"/>
          <p:cNvSpPr/>
          <p:nvPr/>
        </p:nvSpPr>
        <p:spPr>
          <a:xfrm>
            <a:off x="8814816" y="2066543"/>
            <a:ext cx="2286000" cy="804672"/>
          </a:xfrm>
          <a:prstGeom prst="ellipse">
            <a:avLst/>
          </a:prstGeom>
          <a:noFill/>
          <a:ln w="29209">
            <a:solidFill>
              <a:srgbClr val="CC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680192" y="1956816"/>
            <a:ext cx="438912" cy="256032"/>
          </a:xfrm>
          <a:prstGeom prst="roundRect">
            <a:avLst/>
          </a:prstGeom>
          <a:solidFill>
            <a:srgbClr val="C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</a:rPr>
              <a:t>R6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35824" y="6245352"/>
            <a:ext cx="3291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CC3546"/>
                </a:solidFill>
                <a:latin typeface="Microsoft JhengHei"/>
                <a:ea typeface="Microsoft JhengHei"/>
              </a:rPr>
              <a:t>紅圈見末頁：R1 加權≠營收／達成</a:t>
            </a:r>
          </a:p>
        </p:txBody>
      </p:sp>
    </p:spTree>
    <p:extLst>
      <p:ext uri="{BB962C8B-B14F-4D97-AF65-F5344CB8AC3E}">
        <p14:creationId xmlns:p14="http://schemas.microsoft.com/office/powerpoint/2010/main" val="43544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1FC7A0-5A79-3BA9-2585-3BCB594D5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52BAF8F7-2C8B-3E03-23DA-754A78042645}"/>
              </a:ext>
            </a:extLst>
          </p:cNvPr>
          <p:cNvSpPr txBox="1"/>
          <p:nvPr/>
        </p:nvSpPr>
        <p:spPr>
          <a:xfrm>
            <a:off x="1710897" y="568281"/>
            <a:ext cx="6012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資產管理案件明細</a:t>
            </a:r>
            <a:endParaRPr lang="en-US" altLang="zh-TW" dirty="0"/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769A970D-6167-1078-4316-7F2739AC6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464291"/>
              </p:ext>
            </p:extLst>
          </p:nvPr>
        </p:nvGraphicFramePr>
        <p:xfrm>
          <a:off x="661627" y="1629124"/>
          <a:ext cx="10868745" cy="4170951"/>
        </p:xfrm>
        <a:graphic>
          <a:graphicData uri="http://schemas.openxmlformats.org/drawingml/2006/table">
            <a:tbl>
              <a:tblPr/>
              <a:tblGrid>
                <a:gridCol w="3804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0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1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6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64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34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250" b="1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案件名稱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5F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250" b="1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容量(kWp)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5F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250" b="1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總金額（元）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5F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250" b="1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勝率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5F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250" b="1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FY2027預估（元）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5F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4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250" b="1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(建坤)台糖停車場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19,000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1,045,000,000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40%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418,000,000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4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(建坤)台糖明正停車場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6,000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330,000,000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40%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132,000,000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4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(建坤)埔美國際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3,300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115,500,000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20%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23,100,000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4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(建坤)津谷食品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849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26,137,188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100%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26,137,188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4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(建坤)和富工業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435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17,626,005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100%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17,626,005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4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(建坤)城鋒新建廠房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211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10,928,088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100%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10,928,088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4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(建坤)潤泰精密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499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18,962,000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20%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3,792,400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34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(建坤)台南麻豆倉庫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432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21,582,500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5%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1,079,125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9523676" y="2042271"/>
            <a:ext cx="2056987" cy="1027462"/>
          </a:xfrm>
          <a:prstGeom prst="ellipse">
            <a:avLst/>
          </a:prstGeom>
          <a:noFill/>
          <a:ln w="29209">
            <a:solidFill>
              <a:srgbClr val="CC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018520" y="1965960"/>
            <a:ext cx="438912" cy="256032"/>
          </a:xfrm>
          <a:prstGeom prst="roundRect">
            <a:avLst/>
          </a:prstGeom>
          <a:solidFill>
            <a:srgbClr val="C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</a:rPr>
              <a:t>R2</a:t>
            </a:r>
          </a:p>
        </p:txBody>
      </p:sp>
      <p:sp>
        <p:nvSpPr>
          <p:cNvPr id="9" name="Oval 8"/>
          <p:cNvSpPr/>
          <p:nvPr/>
        </p:nvSpPr>
        <p:spPr>
          <a:xfrm>
            <a:off x="8436851" y="3432588"/>
            <a:ext cx="1187409" cy="1490901"/>
          </a:xfrm>
          <a:prstGeom prst="ellipse">
            <a:avLst/>
          </a:prstGeom>
          <a:noFill/>
          <a:ln w="29209">
            <a:solidFill>
              <a:srgbClr val="CC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61704" y="3694176"/>
            <a:ext cx="438912" cy="256032"/>
          </a:xfrm>
          <a:prstGeom prst="roundRect">
            <a:avLst/>
          </a:prstGeom>
          <a:solidFill>
            <a:srgbClr val="C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</a:rPr>
              <a:t>R5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25312"/>
            <a:ext cx="1073505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CC3546"/>
                </a:solidFill>
                <a:latin typeface="Microsoft JhengHei"/>
                <a:ea typeface="Microsoft JhengHei"/>
              </a:rPr>
              <a:t>R2 台糖兩案占合計 52.6%、本類 86.9%　｜　R4 跨年／日期矛盾　｜　R5 100% 勝率需合約佐證</a:t>
            </a:r>
          </a:p>
        </p:txBody>
      </p:sp>
    </p:spTree>
    <p:extLst>
      <p:ext uri="{BB962C8B-B14F-4D97-AF65-F5344CB8AC3E}">
        <p14:creationId xmlns:p14="http://schemas.microsoft.com/office/powerpoint/2010/main" val="1202161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92D69E-7080-93D5-7927-ED2E125D9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234CF119-3CA8-164A-6D5D-D0D827709FDC}"/>
              </a:ext>
            </a:extLst>
          </p:cNvPr>
          <p:cNvSpPr txBox="1"/>
          <p:nvPr/>
        </p:nvSpPr>
        <p:spPr>
          <a:xfrm>
            <a:off x="1710897" y="568281"/>
            <a:ext cx="7864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統包工程前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大案件明細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共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37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案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2FAE4523-51B1-8F66-A9D0-3AD0493A3D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369480"/>
              </p:ext>
            </p:extLst>
          </p:nvPr>
        </p:nvGraphicFramePr>
        <p:xfrm>
          <a:off x="661475" y="1257399"/>
          <a:ext cx="10868745" cy="4701664"/>
        </p:xfrm>
        <a:graphic>
          <a:graphicData uri="http://schemas.openxmlformats.org/drawingml/2006/table">
            <a:tbl>
              <a:tblPr/>
              <a:tblGrid>
                <a:gridCol w="3804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0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1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6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64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74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200" b="1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案件名稱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5F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200" b="1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容量(kWp)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5F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200" b="1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總金額（元）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5F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200" b="1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勝率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5F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200" b="1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FY2027預估（元）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5F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4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日煙（屋頂）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5,000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175,000,000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60%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105,000,000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4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微電網_中山大學微電網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3,000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90,000,000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40%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36,000,000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4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微電網_防災型一批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10,000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350,000,000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10%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35,000,000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4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東南實業_彰化廠（丸紅）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805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31,395,195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100%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31,395,195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4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中永峰（路竹淡水漁電室內養殖場）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1,436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40,194,000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50%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20,097,000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4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東南實業_台中廠（丸紅）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442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17,233,515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100%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17,233,515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4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桃苗中壢廠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436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21,168,310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80%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16,934,648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74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東陽實業（新市）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9,600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336,000,000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5%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16,800,000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74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東和（特力屋）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1,999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69,978,300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20%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13,995,660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74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翔展精密（順順展既有廠）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580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20,300,000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60%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12,180,000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CEC6CFD7-16B4-CA34-6DBF-2F652FEFF123}"/>
              </a:ext>
            </a:extLst>
          </p:cNvPr>
          <p:cNvSpPr txBox="1"/>
          <p:nvPr/>
        </p:nvSpPr>
        <p:spPr>
          <a:xfrm>
            <a:off x="661475" y="6151219"/>
            <a:ext cx="60945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rgbClr val="2B41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ource Sans 3" pitchFamily="34" charset="-120"/>
              </a:rPr>
              <a:t>前 10 大案合計占統包工程類別約 </a:t>
            </a:r>
            <a:r>
              <a:rPr lang="zh-CN" altLang="en-US" sz="1200" b="1" dirty="0">
                <a:solidFill>
                  <a:srgbClr val="2B41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ource Sans 3 Bold" pitchFamily="34" charset="-120"/>
              </a:rPr>
              <a:t>76%</a:t>
            </a:r>
            <a:r>
              <a:rPr lang="zh-CN" altLang="en-US" sz="1200" b="1" dirty="0">
                <a:solidFill>
                  <a:srgbClr val="2B41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ource Sans 3" pitchFamily="34" charset="-120"/>
              </a:rPr>
              <a:t>，其餘 27 案金額較小、相對分散，風險分散度佳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Oval 7"/>
          <p:cNvSpPr/>
          <p:nvPr/>
        </p:nvSpPr>
        <p:spPr>
          <a:xfrm>
            <a:off x="611183" y="1634531"/>
            <a:ext cx="3904719" cy="528008"/>
          </a:xfrm>
          <a:prstGeom prst="ellipse">
            <a:avLst/>
          </a:prstGeom>
          <a:noFill/>
          <a:ln w="29209">
            <a:solidFill>
              <a:srgbClr val="CC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438912" cy="256032"/>
          </a:xfrm>
          <a:prstGeom prst="roundRect">
            <a:avLst/>
          </a:prstGeom>
          <a:solidFill>
            <a:srgbClr val="C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</a:rPr>
              <a:t>R4</a:t>
            </a:r>
          </a:p>
        </p:txBody>
      </p:sp>
      <p:sp>
        <p:nvSpPr>
          <p:cNvPr id="10" name="Oval 9"/>
          <p:cNvSpPr/>
          <p:nvPr/>
        </p:nvSpPr>
        <p:spPr>
          <a:xfrm>
            <a:off x="8436699" y="2916803"/>
            <a:ext cx="1187409" cy="528008"/>
          </a:xfrm>
          <a:prstGeom prst="ellipse">
            <a:avLst/>
          </a:prstGeom>
          <a:noFill/>
          <a:ln w="29209">
            <a:solidFill>
              <a:srgbClr val="CC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061704" y="2697480"/>
            <a:ext cx="438912" cy="256032"/>
          </a:xfrm>
          <a:prstGeom prst="roundRect">
            <a:avLst/>
          </a:prstGeom>
          <a:solidFill>
            <a:srgbClr val="C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</a:rPr>
              <a:t>R5</a:t>
            </a:r>
          </a:p>
        </p:txBody>
      </p:sp>
      <p:sp>
        <p:nvSpPr>
          <p:cNvPr id="12" name="Oval 11"/>
          <p:cNvSpPr/>
          <p:nvPr/>
        </p:nvSpPr>
        <p:spPr>
          <a:xfrm>
            <a:off x="8436699" y="3771651"/>
            <a:ext cx="1187409" cy="528008"/>
          </a:xfrm>
          <a:prstGeom prst="ellipse">
            <a:avLst/>
          </a:prstGeom>
          <a:noFill/>
          <a:ln w="29209">
            <a:solidFill>
              <a:srgbClr val="CC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2648" y="6071616"/>
            <a:ext cx="10360152" cy="429768"/>
          </a:xfrm>
          <a:prstGeom prst="ellipse">
            <a:avLst/>
          </a:prstGeom>
          <a:noFill/>
          <a:ln w="29209">
            <a:solidFill>
              <a:srgbClr val="CC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24744" y="5925312"/>
            <a:ext cx="438912" cy="256032"/>
          </a:xfrm>
          <a:prstGeom prst="roundRect">
            <a:avLst/>
          </a:prstGeom>
          <a:solidFill>
            <a:srgbClr val="C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</a:rPr>
              <a:t>R7</a:t>
            </a:r>
          </a:p>
        </p:txBody>
      </p:sp>
    </p:spTree>
    <p:extLst>
      <p:ext uri="{BB962C8B-B14F-4D97-AF65-F5344CB8AC3E}">
        <p14:creationId xmlns:p14="http://schemas.microsoft.com/office/powerpoint/2010/main" val="838645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B6AF06-83BC-B98C-D43C-5235808C8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314CA922-1500-7007-E823-B364BE1AA1EA}"/>
              </a:ext>
            </a:extLst>
          </p:cNvPr>
          <p:cNvSpPr txBox="1"/>
          <p:nvPr/>
        </p:nvSpPr>
        <p:spPr>
          <a:xfrm>
            <a:off x="1710897" y="568281"/>
            <a:ext cx="7864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6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依施工季度分布</a:t>
            </a:r>
            <a:endParaRPr lang="en-US" altLang="zh-TW" dirty="0"/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57E79649-DFE5-9291-CDF3-F76DE64E55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161773"/>
              </p:ext>
            </p:extLst>
          </p:nvPr>
        </p:nvGraphicFramePr>
        <p:xfrm>
          <a:off x="1710897" y="1733933"/>
          <a:ext cx="5232666" cy="2404110"/>
        </p:xfrm>
        <a:graphic>
          <a:graphicData uri="http://schemas.openxmlformats.org/drawingml/2006/table">
            <a:tbl>
              <a:tblPr/>
              <a:tblGrid>
                <a:gridCol w="1046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2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2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5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89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300" b="1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季別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5F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300" b="1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統包工程（元）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5F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300" b="1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資產管理（元）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5F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300" b="1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合計（元）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325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5F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Q1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188,960,189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15,799,613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204,759,802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Q2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168,006,980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43,763,193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211,770,173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Q3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35,416,578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23,100,000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58,516,578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9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Q4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21,537,355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550,000,000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571,537,355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2">
            <a:extLst>
              <a:ext uri="{FF2B5EF4-FFF2-40B4-BE49-F238E27FC236}">
                <a16:creationId xmlns:a16="http://schemas.microsoft.com/office/drawing/2014/main" id="{DA939D2E-946D-B0B3-794A-18F5D932C864}"/>
              </a:ext>
            </a:extLst>
          </p:cNvPr>
          <p:cNvSpPr/>
          <p:nvPr/>
        </p:nvSpPr>
        <p:spPr>
          <a:xfrm>
            <a:off x="799497" y="4795388"/>
            <a:ext cx="10993415" cy="785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zh-CN" altLang="en-US" sz="1400" dirty="0">
                <a:solidFill>
                  <a:srgbClr val="2B41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ource Sans 3" pitchFamily="34" charset="-120"/>
              </a:rPr>
              <a:t>統包工程集中上半年（Q1+Q2 占 </a:t>
            </a:r>
            <a:r>
              <a:rPr lang="zh-CN" altLang="en-US" sz="1400" b="1" dirty="0">
                <a:solidFill>
                  <a:srgbClr val="2B41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ource Sans 3 Bold" pitchFamily="34" charset="-120"/>
              </a:rPr>
              <a:t>86%</a:t>
            </a:r>
            <a:r>
              <a:rPr lang="zh-CN" altLang="en-US" sz="1400" dirty="0">
                <a:solidFill>
                  <a:srgbClr val="2B41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ource Sans 3" pitchFamily="34" charset="-120"/>
              </a:rPr>
              <a:t>）；資產管理集中 Q4，主因台糖停車場（施工 2027 年 10 月）單案占 Q4 資產管理金額 </a:t>
            </a:r>
            <a:r>
              <a:rPr lang="zh-CN" altLang="en-US" sz="1400" b="1" dirty="0">
                <a:solidFill>
                  <a:srgbClr val="2B41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ource Sans 3 Bold" pitchFamily="34" charset="-120"/>
              </a:rPr>
              <a:t>76%</a:t>
            </a:r>
            <a:r>
              <a:rPr lang="zh-CN" altLang="en-US" sz="1400" dirty="0">
                <a:solidFill>
                  <a:srgbClr val="2B41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ource Sans 3" pitchFamily="34" charset="-120"/>
              </a:rPr>
              <a:t>。</a:t>
            </a:r>
            <a:endParaRPr lang="zh-CN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Oval 8"/>
          <p:cNvSpPr/>
          <p:nvPr/>
        </p:nvSpPr>
        <p:spPr>
          <a:xfrm>
            <a:off x="4119941" y="3608833"/>
            <a:ext cx="2873914" cy="579501"/>
          </a:xfrm>
          <a:prstGeom prst="ellipse">
            <a:avLst/>
          </a:prstGeom>
          <a:noFill/>
          <a:ln w="29209">
            <a:solidFill>
              <a:srgbClr val="CC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11112" y="3575304"/>
            <a:ext cx="438912" cy="256032"/>
          </a:xfrm>
          <a:prstGeom prst="roundRect">
            <a:avLst/>
          </a:prstGeom>
          <a:solidFill>
            <a:srgbClr val="C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</a:rPr>
              <a:t>R2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764792"/>
            <a:ext cx="4096512" cy="2395728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52944" y="1938528"/>
            <a:ext cx="37947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>
                <a:solidFill>
                  <a:srgbClr val="CC3546"/>
                </a:solidFill>
                <a:latin typeface="Microsoft JhengHei"/>
                <a:ea typeface="Microsoft JhengHei"/>
              </a:rPr>
              <a:t>R4｜此表不是年度認列表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52944" y="2523744"/>
            <a:ext cx="3794760" cy="1389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CC3546"/>
                </a:solidFill>
                <a:latin typeface="Microsoft JhengHei"/>
                <a:ea typeface="Microsoft JhengHei"/>
              </a:rPr>
              <a:t>日煙施工寫 2026/06；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CC3546"/>
                </a:solidFill>
                <a:latin typeface="Microsoft JhengHei"/>
                <a:ea typeface="Microsoft JhengHei"/>
              </a:rPr>
              <a:t>台糖明正施工寫 2026/10。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CC3546"/>
                </a:solidFill>
                <a:latin typeface="Microsoft JhengHei"/>
                <a:ea typeface="Microsoft JhengHei"/>
              </a:rPr>
              <a:t>按月份分組會混入錯誤年份。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CC3546"/>
                </a:solidFill>
                <a:latin typeface="Microsoft JhengHei"/>
                <a:ea typeface="Microsoft JhengHei"/>
              </a:rPr>
              <a:t>先核對日期，再重算工程、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CC3546"/>
                </a:solidFill>
                <a:latin typeface="Microsoft JhengHei"/>
                <a:ea typeface="Microsoft JhengHei"/>
              </a:rPr>
              <a:t>營收與現金流三張表。</a:t>
            </a:r>
          </a:p>
        </p:txBody>
      </p:sp>
    </p:spTree>
    <p:extLst>
      <p:ext uri="{BB962C8B-B14F-4D97-AF65-F5344CB8AC3E}">
        <p14:creationId xmlns:p14="http://schemas.microsoft.com/office/powerpoint/2010/main" val="112029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17D39F-BA47-017B-1A24-03E137408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C5829A6B-A40E-F2B7-B98C-B7F3997D62A5}"/>
              </a:ext>
            </a:extLst>
          </p:cNvPr>
          <p:cNvSpPr txBox="1"/>
          <p:nvPr/>
        </p:nvSpPr>
        <p:spPr>
          <a:xfrm>
            <a:off x="1710897" y="568281"/>
            <a:ext cx="7864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中長期佈局——FY2028 資料中心</a:t>
            </a: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0CD50D73-979B-8B81-4DB0-E6EE1FEC8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30" y="1825277"/>
            <a:ext cx="2021333" cy="1249263"/>
          </a:xfrm>
          <a:prstGeom prst="rect">
            <a:avLst/>
          </a:prstGeom>
        </p:spPr>
      </p:pic>
      <p:sp>
        <p:nvSpPr>
          <p:cNvPr id="10" name="Text 2">
            <a:extLst>
              <a:ext uri="{FF2B5EF4-FFF2-40B4-BE49-F238E27FC236}">
                <a16:creationId xmlns:a16="http://schemas.microsoft.com/office/drawing/2014/main" id="{934795ED-24D8-B722-2363-2116C7973C63}"/>
              </a:ext>
            </a:extLst>
          </p:cNvPr>
          <p:cNvSpPr/>
          <p:nvPr/>
        </p:nvSpPr>
        <p:spPr>
          <a:xfrm>
            <a:off x="700230" y="3281213"/>
            <a:ext cx="34850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600" dirty="0">
                <a:solidFill>
                  <a:srgbClr val="2B41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useoModerno Medium" pitchFamily="34" charset="-120"/>
              </a:rPr>
              <a:t>30MW 算利中心（麻豆）</a:t>
            </a:r>
            <a:endParaRPr lang="zh-CN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29EA6978-3087-CB0F-2102-05A3B8588A15}"/>
              </a:ext>
            </a:extLst>
          </p:cNvPr>
          <p:cNvSpPr/>
          <p:nvPr/>
        </p:nvSpPr>
        <p:spPr>
          <a:xfrm>
            <a:off x="700230" y="3646073"/>
            <a:ext cx="348507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zh-CN" altLang="en-US" sz="1400" dirty="0">
                <a:solidFill>
                  <a:srgbClr val="2B41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ource Sans 3" pitchFamily="34" charset="-120"/>
              </a:rPr>
              <a:t>30 億元，20% 勝率加權 </a:t>
            </a:r>
            <a:r>
              <a:rPr lang="zh-CN" altLang="en-US" sz="1400" dirty="0">
                <a:solidFill>
                  <a:srgbClr val="2B41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6.0 億元</a:t>
            </a:r>
            <a:r>
              <a:rPr lang="zh-CN" altLang="en-US" sz="1400" dirty="0">
                <a:solidFill>
                  <a:srgbClr val="2B41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ource Sans 3" pitchFamily="34" charset="-120"/>
              </a:rPr>
              <a:t>。</a:t>
            </a:r>
            <a:endParaRPr lang="zh-CN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494154CA-C181-4031-B3F2-E241412FA7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1968" y="1825277"/>
            <a:ext cx="2021333" cy="1249263"/>
          </a:xfrm>
          <a:prstGeom prst="rect">
            <a:avLst/>
          </a:prstGeom>
        </p:spPr>
      </p:pic>
      <p:sp>
        <p:nvSpPr>
          <p:cNvPr id="16" name="Text 4">
            <a:extLst>
              <a:ext uri="{FF2B5EF4-FFF2-40B4-BE49-F238E27FC236}">
                <a16:creationId xmlns:a16="http://schemas.microsoft.com/office/drawing/2014/main" id="{A1375F48-FCBA-B094-7A1A-FB8BD41FF28A}"/>
              </a:ext>
            </a:extLst>
          </p:cNvPr>
          <p:cNvSpPr/>
          <p:nvPr/>
        </p:nvSpPr>
        <p:spPr>
          <a:xfrm>
            <a:off x="4391968" y="3281213"/>
            <a:ext cx="348517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600" dirty="0">
                <a:solidFill>
                  <a:srgbClr val="2B41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useoModerno Medium" pitchFamily="34" charset="-120"/>
              </a:rPr>
              <a:t>10MW 算利中心（桃園）</a:t>
            </a:r>
            <a:endParaRPr lang="zh-CN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3EAF7996-9EAD-4434-AC46-564909707795}"/>
              </a:ext>
            </a:extLst>
          </p:cNvPr>
          <p:cNvSpPr/>
          <p:nvPr/>
        </p:nvSpPr>
        <p:spPr>
          <a:xfrm>
            <a:off x="4391968" y="3638897"/>
            <a:ext cx="348517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zh-CN" altLang="en-US" sz="1400" dirty="0">
                <a:solidFill>
                  <a:srgbClr val="2B41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ource Sans 3" pitchFamily="34" charset="-120"/>
              </a:rPr>
              <a:t>10 億元，20% 勝率加權 </a:t>
            </a:r>
            <a:r>
              <a:rPr lang="zh-CN" altLang="en-US" sz="1400" dirty="0">
                <a:solidFill>
                  <a:srgbClr val="2B41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ource Sans 3 Bold" pitchFamily="34" charset="-120"/>
              </a:rPr>
              <a:t>2.0 億元</a:t>
            </a:r>
            <a:r>
              <a:rPr lang="zh-CN" altLang="en-US" sz="1400" dirty="0">
                <a:solidFill>
                  <a:srgbClr val="2B41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ource Sans 3" pitchFamily="34" charset="-120"/>
              </a:rPr>
              <a:t>。2027 提前卡位北部算力布局，建立跨區域交付能力。</a:t>
            </a:r>
            <a:endParaRPr lang="zh-CN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0" name="Image 2" descr="preencoded.png">
            <a:extLst>
              <a:ext uri="{FF2B5EF4-FFF2-40B4-BE49-F238E27FC236}">
                <a16:creationId xmlns:a16="http://schemas.microsoft.com/office/drawing/2014/main" id="{97BCAD35-01CA-FC56-84C9-E2EBE5D8D2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3805" y="1825277"/>
            <a:ext cx="2021333" cy="1249263"/>
          </a:xfrm>
          <a:prstGeom prst="rect">
            <a:avLst/>
          </a:prstGeom>
        </p:spPr>
      </p:pic>
      <p:sp>
        <p:nvSpPr>
          <p:cNvPr id="22" name="Text 6">
            <a:extLst>
              <a:ext uri="{FF2B5EF4-FFF2-40B4-BE49-F238E27FC236}">
                <a16:creationId xmlns:a16="http://schemas.microsoft.com/office/drawing/2014/main" id="{4B4CD528-38AB-87B0-C0CA-5BF83F0CCC21}"/>
              </a:ext>
            </a:extLst>
          </p:cNvPr>
          <p:cNvSpPr/>
          <p:nvPr/>
        </p:nvSpPr>
        <p:spPr>
          <a:xfrm>
            <a:off x="8083805" y="3281213"/>
            <a:ext cx="348517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600" dirty="0">
                <a:solidFill>
                  <a:srgbClr val="2B41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useoModerno Medium" pitchFamily="34" charset="-120"/>
              </a:rPr>
              <a:t>10MW 算利中心（嘉惠）</a:t>
            </a:r>
            <a:endParaRPr lang="zh-CN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FAF06ABC-0423-CACC-66B9-13DC42039234}"/>
              </a:ext>
            </a:extLst>
          </p:cNvPr>
          <p:cNvSpPr/>
          <p:nvPr/>
        </p:nvSpPr>
        <p:spPr>
          <a:xfrm>
            <a:off x="8083805" y="3638897"/>
            <a:ext cx="348517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zh-CN" altLang="en-US" sz="1400" dirty="0">
                <a:solidFill>
                  <a:srgbClr val="2B41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ource Sans 3" pitchFamily="34" charset="-120"/>
              </a:rPr>
              <a:t>10 億元，20% 勝率加權 </a:t>
            </a:r>
            <a:r>
              <a:rPr lang="zh-CN" altLang="en-US" sz="1400" dirty="0">
                <a:solidFill>
                  <a:srgbClr val="2B41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2.0 億元。</a:t>
            </a:r>
            <a:r>
              <a:rPr lang="zh-CN" altLang="en-US" sz="1400" dirty="0">
                <a:solidFill>
                  <a:srgbClr val="2B41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ource Sans 3" pitchFamily="34" charset="-120"/>
              </a:rPr>
              <a:t>2027 南部能源補位，配合麻豆案形成雙核布局</a:t>
            </a:r>
            <a:endParaRPr lang="zh-CN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636422" y="3584448"/>
            <a:ext cx="3575304" cy="941832"/>
          </a:xfrm>
          <a:prstGeom prst="ellipse">
            <a:avLst/>
          </a:prstGeom>
          <a:noFill/>
          <a:ln w="29209">
            <a:solidFill>
              <a:srgbClr val="CC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745382" y="3511296"/>
            <a:ext cx="438912" cy="256032"/>
          </a:xfrm>
          <a:prstGeom prst="roundRect">
            <a:avLst/>
          </a:prstGeom>
          <a:solidFill>
            <a:srgbClr val="C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</a:rPr>
              <a:t>R6</a:t>
            </a:r>
          </a:p>
        </p:txBody>
      </p:sp>
      <p:sp>
        <p:nvSpPr>
          <p:cNvPr id="27" name="Oval 26"/>
          <p:cNvSpPr/>
          <p:nvPr/>
        </p:nvSpPr>
        <p:spPr>
          <a:xfrm>
            <a:off x="4327855" y="3584448"/>
            <a:ext cx="3575304" cy="941832"/>
          </a:xfrm>
          <a:prstGeom prst="ellipse">
            <a:avLst/>
          </a:prstGeom>
          <a:noFill/>
          <a:ln w="29209">
            <a:solidFill>
              <a:srgbClr val="CC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36815" y="3511296"/>
            <a:ext cx="438912" cy="256032"/>
          </a:xfrm>
          <a:prstGeom prst="roundRect">
            <a:avLst/>
          </a:prstGeom>
          <a:solidFill>
            <a:srgbClr val="C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</a:rPr>
              <a:t>R6</a:t>
            </a:r>
          </a:p>
        </p:txBody>
      </p:sp>
      <p:sp>
        <p:nvSpPr>
          <p:cNvPr id="29" name="Oval 28"/>
          <p:cNvSpPr/>
          <p:nvPr/>
        </p:nvSpPr>
        <p:spPr>
          <a:xfrm>
            <a:off x="8020202" y="3584448"/>
            <a:ext cx="3575304" cy="941832"/>
          </a:xfrm>
          <a:prstGeom prst="ellipse">
            <a:avLst/>
          </a:prstGeom>
          <a:noFill/>
          <a:ln w="29209">
            <a:solidFill>
              <a:srgbClr val="CC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1129162" y="3511296"/>
            <a:ext cx="438912" cy="256032"/>
          </a:xfrm>
          <a:prstGeom prst="roundRect">
            <a:avLst/>
          </a:prstGeom>
          <a:solidFill>
            <a:srgbClr val="C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</a:rPr>
              <a:t>R6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4088" y="4809744"/>
            <a:ext cx="10844784" cy="941832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65192"/>
            <a:ext cx="1051560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CC3546"/>
                </a:solidFill>
                <a:latin typeface="Microsoft JhengHei"/>
                <a:ea typeface="Microsoft JhengHei"/>
              </a:rPr>
              <a:t>三案皆預計 2028/06 開工、2029/06 完工，且同一客戶。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CC3546"/>
                </a:solidFill>
                <a:latin typeface="Microsoft JhengHei"/>
                <a:ea typeface="Microsoft JhengHei"/>
              </a:rPr>
              <a:t>10 億是整案勝率加權商機；進能服可承包範圍、2028 認列比例与驗證資源仍待確認。</a:t>
            </a:r>
          </a:p>
        </p:txBody>
      </p:sp>
    </p:spTree>
    <p:extLst>
      <p:ext uri="{BB962C8B-B14F-4D97-AF65-F5344CB8AC3E}">
        <p14:creationId xmlns:p14="http://schemas.microsoft.com/office/powerpoint/2010/main" val="208785972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168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11064240" cy="5394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173B50"/>
                </a:solidFill>
                <a:latin typeface="Microsoft JhengHei"/>
                <a:ea typeface="Microsoft JhengHei"/>
              </a:rPr>
              <a:t>圈註索引｜哪些地方要改、哪些地方待確認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78408"/>
            <a:ext cx="109728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5F7480"/>
                </a:solidFill>
                <a:latin typeface="Microsoft JhengHei"/>
                <a:ea typeface="Microsoft JhengHei"/>
              </a:rPr>
              <a:t>前 6 頁保留原文字與數字；紅圈是審閱提醒，不代表問題均已確認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44168"/>
            <a:ext cx="10972800" cy="10972"/>
          </a:xfrm>
          <a:prstGeom prst="rect">
            <a:avLst/>
          </a:prstGeom>
          <a:solidFill>
            <a:srgbClr val="D5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3784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5F7480"/>
                </a:solidFill>
                <a:latin typeface="Microsoft JhengHei"/>
                <a:ea typeface="Microsoft JhengHei"/>
              </a:rPr>
              <a:t>圈註依據：機會清單_20261005.xlsx｜詳細證據與欄位見 2027商業計畫_審閱摘要_20261006.md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37376"/>
            <a:ext cx="5029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F7480"/>
                </a:solidFill>
                <a:latin typeface="Microsoft JhengHei"/>
                <a:ea typeface="Microsoft JhengHei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55064"/>
            <a:ext cx="640080" cy="457200"/>
          </a:xfrm>
          <a:prstGeom prst="rect">
            <a:avLst/>
          </a:prstGeom>
          <a:solidFill>
            <a:srgbClr val="17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19072"/>
            <a:ext cx="457199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</a:rPr>
              <a:t>編號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1655064"/>
            <a:ext cx="3803904" cy="457200"/>
          </a:xfrm>
          <a:prstGeom prst="rect">
            <a:avLst/>
          </a:prstGeom>
          <a:solidFill>
            <a:srgbClr val="17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719072"/>
            <a:ext cx="3621024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</a:rPr>
              <a:t>問題／風險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38344" y="1655064"/>
            <a:ext cx="6528816" cy="457200"/>
          </a:xfrm>
          <a:prstGeom prst="rect">
            <a:avLst/>
          </a:prstGeom>
          <a:solidFill>
            <a:srgbClr val="17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9783" y="1719072"/>
            <a:ext cx="634593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</a:rPr>
              <a:t>建議修改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112264"/>
            <a:ext cx="640080" cy="521207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194560"/>
            <a:ext cx="457199" cy="411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CC3546"/>
                </a:solidFill>
                <a:latin typeface="Microsoft JhengHei"/>
                <a:ea typeface="Microsoft JhengHei"/>
              </a:rPr>
              <a:t>R1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34440" y="2112264"/>
            <a:ext cx="3803904" cy="521207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2194560"/>
            <a:ext cx="3621024" cy="411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E4B"/>
                </a:solidFill>
                <a:latin typeface="Microsoft JhengHei"/>
                <a:ea typeface="Microsoft JhengHei"/>
              </a:rPr>
              <a:t>加權商機被標為預估／達成率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38344" y="2112264"/>
            <a:ext cx="6528816" cy="521207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9783" y="2194560"/>
            <a:ext cx="6345936" cy="411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E4B"/>
                </a:solidFill>
                <a:latin typeface="Microsoft JhengHei"/>
                <a:ea typeface="Microsoft JhengHei"/>
              </a:rPr>
              <a:t>改商機覆蓋率；另列在手訂單與年度認列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633472"/>
            <a:ext cx="640080" cy="521207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715768"/>
            <a:ext cx="457199" cy="411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CC3546"/>
                </a:solidFill>
                <a:latin typeface="Microsoft JhengHei"/>
                <a:ea typeface="Microsoft JhengHei"/>
              </a:rPr>
              <a:t>R2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34440" y="2633472"/>
            <a:ext cx="3803904" cy="521207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2715768"/>
            <a:ext cx="3621024" cy="411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E4B"/>
                </a:solidFill>
                <a:latin typeface="Microsoft JhengHei"/>
                <a:ea typeface="Microsoft JhengHei"/>
              </a:rPr>
              <a:t>台糖兩案占合計 52.6%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38344" y="2633472"/>
            <a:ext cx="6528816" cy="521207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9783" y="2715768"/>
            <a:ext cx="6345936" cy="411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E4B"/>
                </a:solidFill>
                <a:latin typeface="Microsoft JhengHei"/>
                <a:ea typeface="Microsoft JhengHei"/>
              </a:rPr>
              <a:t>核範圍與跨年；做下行／替補及完整履約資源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3154680"/>
            <a:ext cx="640080" cy="521207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236976"/>
            <a:ext cx="457199" cy="411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CC3546"/>
                </a:solidFill>
                <a:latin typeface="Microsoft JhengHei"/>
                <a:ea typeface="Microsoft JhengHei"/>
              </a:rPr>
              <a:t>R3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34440" y="3154680"/>
            <a:ext cx="3803904" cy="521207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25880" y="3236976"/>
            <a:ext cx="3621024" cy="411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E4B"/>
                </a:solidFill>
                <a:latin typeface="Microsoft JhengHei"/>
                <a:ea typeface="Microsoft JhengHei"/>
              </a:rPr>
              <a:t>資產管理高毛利穩定金流未證明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38344" y="3154680"/>
            <a:ext cx="6528816" cy="521207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9783" y="3236976"/>
            <a:ext cx="6345936" cy="411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E4B"/>
                </a:solidFill>
                <a:latin typeface="Microsoft JhengHei"/>
                <a:ea typeface="Microsoft JhengHei"/>
              </a:rPr>
              <a:t>拆工程／資產交易／服務；補毛利與收現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3675887"/>
            <a:ext cx="640080" cy="521207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3758183"/>
            <a:ext cx="457199" cy="411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CC3546"/>
                </a:solidFill>
                <a:latin typeface="Microsoft JhengHei"/>
                <a:ea typeface="Microsoft JhengHei"/>
              </a:rPr>
              <a:t>R4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440" y="3675887"/>
            <a:ext cx="3803904" cy="521207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25880" y="3758183"/>
            <a:ext cx="3621024" cy="411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E4B"/>
                </a:solidFill>
                <a:latin typeface="Microsoft JhengHei"/>
                <a:ea typeface="Microsoft JhengHei"/>
              </a:rPr>
              <a:t>日煙與台糖明正日期矛盾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38344" y="3675887"/>
            <a:ext cx="6528816" cy="521207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9783" y="3758183"/>
            <a:ext cx="6345936" cy="411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E4B"/>
                </a:solidFill>
                <a:latin typeface="Microsoft JhengHei"/>
                <a:ea typeface="Microsoft JhengHei"/>
              </a:rPr>
              <a:t>先核對，不擅改；按年份重排工量與認列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4197096"/>
            <a:ext cx="640080" cy="521207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4279392"/>
            <a:ext cx="457199" cy="411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CC3546"/>
                </a:solidFill>
                <a:latin typeface="Microsoft JhengHei"/>
                <a:ea typeface="Microsoft JhengHei"/>
              </a:rPr>
              <a:t>R5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440" y="4197096"/>
            <a:ext cx="3803904" cy="521207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25880" y="4279392"/>
            <a:ext cx="3621024" cy="411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E4B"/>
                </a:solidFill>
                <a:latin typeface="Microsoft JhengHei"/>
                <a:ea typeface="Microsoft JhengHei"/>
              </a:rPr>
              <a:t>100% 勝率尚不等於已簽約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38344" y="4197096"/>
            <a:ext cx="6528816" cy="521207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29783" y="4279392"/>
            <a:ext cx="6345936" cy="411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E4B"/>
                </a:solidFill>
                <a:latin typeface="Microsoft JhengHei"/>
                <a:ea typeface="Microsoft JhengHei"/>
              </a:rPr>
              <a:t>查合約／CRM更新；補施工容量与資金表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4718304"/>
            <a:ext cx="640080" cy="521207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4800600"/>
            <a:ext cx="457199" cy="411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CC3546"/>
                </a:solidFill>
                <a:latin typeface="Microsoft JhengHei"/>
                <a:ea typeface="Microsoft JhengHei"/>
              </a:rPr>
              <a:t>R6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440" y="4718304"/>
            <a:ext cx="3803904" cy="521207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25880" y="4800600"/>
            <a:ext cx="3621024" cy="411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E4B"/>
                </a:solidFill>
                <a:latin typeface="Microsoft JhengHei"/>
                <a:ea typeface="Microsoft JhengHei"/>
              </a:rPr>
              <a:t>AIDC 10 億不是已驗證年度收入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38344" y="4718304"/>
            <a:ext cx="6528816" cy="521207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29783" y="4800600"/>
            <a:ext cx="6345936" cy="411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E4B"/>
                </a:solidFill>
                <a:latin typeface="Microsoft JhengHei"/>
                <a:ea typeface="Microsoft JhengHei"/>
              </a:rPr>
              <a:t>2027驗證；2028/2029依範圍與進度分期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" y="5239512"/>
            <a:ext cx="640080" cy="521207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5321808"/>
            <a:ext cx="457199" cy="411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CC3546"/>
                </a:solidFill>
                <a:latin typeface="Microsoft JhengHei"/>
                <a:ea typeface="Microsoft JhengHei"/>
              </a:rPr>
              <a:t>R7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34440" y="5239512"/>
            <a:ext cx="3803904" cy="521207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25880" y="5321808"/>
            <a:ext cx="3621024" cy="411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E4B"/>
                </a:solidFill>
                <a:latin typeface="Microsoft JhengHei"/>
                <a:ea typeface="Microsoft JhengHei"/>
              </a:rPr>
              <a:t>前十大占比與納入規則需統一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38344" y="5239512"/>
            <a:ext cx="6528816" cy="521207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129783" y="5321808"/>
            <a:ext cx="6345936" cy="411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E4B"/>
                </a:solidFill>
                <a:latin typeface="Microsoft JhengHei"/>
                <a:ea typeface="Microsoft JhengHei"/>
              </a:rPr>
              <a:t>占比改73.6%；確認跨年申設案是否排除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7512" y="5934456"/>
            <a:ext cx="10826496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CC3546"/>
                </a:solidFill>
                <a:latin typeface="Microsoft JhengHei"/>
                <a:ea typeface="Microsoft JhengHei"/>
              </a:rPr>
              <a:t>重要：毛利、人力、墊款與認列資料未提供；不在此審閱稿中填入未經核定的假設數字。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168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11064240" cy="5394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173B50"/>
                </a:solidFill>
                <a:latin typeface="Microsoft JhengHei"/>
                <a:ea typeface="Microsoft JhengHei"/>
              </a:rPr>
              <a:t>五個問題，決定下一版如何修改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78408"/>
            <a:ext cx="109728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5F7480"/>
                </a:solidFill>
                <a:latin typeface="Microsoft JhengHei"/>
                <a:ea typeface="Microsoft JhengHei"/>
              </a:rPr>
              <a:t>先拍板方向與邊界，再修改數字與資源配置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44168"/>
            <a:ext cx="10972800" cy="10972"/>
          </a:xfrm>
          <a:prstGeom prst="rect">
            <a:avLst/>
          </a:prstGeom>
          <a:solidFill>
            <a:srgbClr val="D5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3784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5F7480"/>
                </a:solidFill>
                <a:latin typeface="Microsoft JhengHei"/>
                <a:ea typeface="Microsoft JhengHei"/>
              </a:rPr>
              <a:t>資料基準：機會清單_20261005.xlsx｜圈註版新增決策頁｜2026-10-06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37376"/>
            <a:ext cx="5029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F7480"/>
                </a:solidFill>
                <a:latin typeface="Microsoft JhengHei"/>
                <a:ea typeface="Microsoft JhengHei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527048"/>
            <a:ext cx="10972800" cy="786384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1664207"/>
            <a:ext cx="429768" cy="429768"/>
          </a:xfrm>
          <a:prstGeom prst="ellipse">
            <a:avLst/>
          </a:prstGeom>
          <a:solidFill>
            <a:srgbClr val="168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39"/>
            <a:ext cx="4297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1600200"/>
            <a:ext cx="615391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900" b="1">
                <a:solidFill>
                  <a:srgbClr val="173B50"/>
                </a:solidFill>
                <a:latin typeface="Microsoft JhengHei"/>
                <a:ea typeface="Microsoft JhengHei"/>
              </a:rPr>
              <a:t>10 億是什麼口徑？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1920240"/>
            <a:ext cx="65836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243E4B"/>
                </a:solidFill>
                <a:latin typeface="Microsoft JhengHei"/>
                <a:ea typeface="Microsoft JhengHei"/>
              </a:rPr>
              <a:t>2027 可認列營收、簽約額，還是加權商機池？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7" y="1746504"/>
            <a:ext cx="3044952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68F9A"/>
                </a:solidFill>
                <a:latin typeface="Microsoft JhengHei"/>
                <a:ea typeface="Microsoft JhengHei"/>
              </a:rPr>
              <a:t>改：目標／預測／商機三層表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404872"/>
            <a:ext cx="10972800" cy="786384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2542032"/>
            <a:ext cx="429768" cy="429768"/>
          </a:xfrm>
          <a:prstGeom prst="ellipse">
            <a:avLst/>
          </a:prstGeom>
          <a:solidFill>
            <a:srgbClr val="168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569464"/>
            <a:ext cx="4297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" y="2478024"/>
            <a:ext cx="615391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900" b="1">
                <a:solidFill>
                  <a:srgbClr val="173B50"/>
                </a:solidFill>
                <a:latin typeface="Microsoft JhengHei"/>
                <a:ea typeface="Microsoft JhengHei"/>
              </a:rPr>
              <a:t>資產管理靠什麼賺錢？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2798064"/>
            <a:ext cx="65836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243E4B"/>
                </a:solidFill>
                <a:latin typeface="Microsoft JhengHei"/>
                <a:ea typeface="Microsoft JhengHei"/>
              </a:rPr>
              <a:t>一次性工程／資產交易，還是可續約管理與維運？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2624328"/>
            <a:ext cx="3044952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68F9A"/>
                </a:solidFill>
                <a:latin typeface="Microsoft JhengHei"/>
                <a:ea typeface="Microsoft JhengHei"/>
              </a:rPr>
              <a:t>改：商模、認列主體與毛利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282696"/>
            <a:ext cx="10972800" cy="786384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3419856"/>
            <a:ext cx="429768" cy="429768"/>
          </a:xfrm>
          <a:prstGeom prst="ellipse">
            <a:avLst/>
          </a:prstGeom>
          <a:solidFill>
            <a:srgbClr val="168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447288"/>
            <a:ext cx="4297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3355848"/>
            <a:ext cx="615391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900" b="1">
                <a:solidFill>
                  <a:srgbClr val="173B50"/>
                </a:solidFill>
                <a:latin typeface="Microsoft JhengHei"/>
                <a:ea typeface="Microsoft JhengHei"/>
              </a:rPr>
              <a:t>台糖失利，如何取捨？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4168" y="3675887"/>
            <a:ext cx="65836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243E4B"/>
                </a:solidFill>
                <a:latin typeface="Microsoft JhengHei"/>
                <a:ea typeface="Microsoft JhengHei"/>
              </a:rPr>
              <a:t>可接受下修多少；用哪些具名案件替補？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3502152"/>
            <a:ext cx="3044952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68F9A"/>
                </a:solidFill>
                <a:latin typeface="Microsoft JhengHei"/>
                <a:ea typeface="Microsoft JhengHei"/>
              </a:rPr>
              <a:t>改：三情境、替補與啟動條件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4160520"/>
            <a:ext cx="10972800" cy="786384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" y="4297680"/>
            <a:ext cx="429768" cy="429768"/>
          </a:xfrm>
          <a:prstGeom prst="ellipse">
            <a:avLst/>
          </a:prstGeom>
          <a:solidFill>
            <a:srgbClr val="168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325112"/>
            <a:ext cx="4297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44168" y="4233672"/>
            <a:ext cx="615391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900" b="1">
                <a:solidFill>
                  <a:srgbClr val="173B50"/>
                </a:solidFill>
                <a:latin typeface="Microsoft JhengHei"/>
                <a:ea typeface="Microsoft JhengHei"/>
              </a:rPr>
              <a:t>接案的硬邊界在哪？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4168" y="4553712"/>
            <a:ext cx="65836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243E4B"/>
                </a:solidFill>
                <a:latin typeface="Microsoft JhengHei"/>
                <a:ea typeface="Microsoft JhengHei"/>
              </a:rPr>
              <a:t>毛利底線、峰值墊款上限及同時施工容量是多少？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7" y="4379976"/>
            <a:ext cx="3044952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68F9A"/>
                </a:solidFill>
                <a:latin typeface="Microsoft JhengHei"/>
                <a:ea typeface="Microsoft JhengHei"/>
              </a:rPr>
              <a:t>改：報價、授信、人力與排程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5038344"/>
            <a:ext cx="10972800" cy="786384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1520" y="5175504"/>
            <a:ext cx="429768" cy="429768"/>
          </a:xfrm>
          <a:prstGeom prst="ellipse">
            <a:avLst/>
          </a:prstGeom>
          <a:solidFill>
            <a:srgbClr val="168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202936"/>
            <a:ext cx="4297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5111496"/>
            <a:ext cx="615391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900" b="1">
                <a:solidFill>
                  <a:srgbClr val="173B50"/>
                </a:solidFill>
                <a:latin typeface="Microsoft JhengHei"/>
                <a:ea typeface="Microsoft JhengHei"/>
              </a:rPr>
              <a:t>AIDC 何時才可加碼？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44168" y="5431536"/>
            <a:ext cx="65836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243E4B"/>
                </a:solidFill>
                <a:latin typeface="Microsoft JhengHei"/>
                <a:ea typeface="Microsoft JhengHei"/>
              </a:rPr>
              <a:t>2027 要驗證到何種成果，才承諾 2028 財務目標？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7" y="5257800"/>
            <a:ext cx="3044952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68F9A"/>
                </a:solidFill>
                <a:latin typeface="Microsoft JhengHei"/>
                <a:ea typeface="Microsoft JhengHei"/>
              </a:rPr>
              <a:t>改：驗證預算、里程碑與停損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044184"/>
            <a:ext cx="10927080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CC3546"/>
                </a:solidFill>
                <a:latin typeface="Microsoft JhengHei"/>
                <a:ea typeface="Microsoft JhengHei"/>
              </a:rPr>
              <a:t>待 David／管理層拍板：口徑、商模、下行與替補、資源邊界、AIDC 驗證條件。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67af09e-b50c-4ea7-b649-75ee11e4918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749A5622746B43B505BCC946718888" ma:contentTypeVersion="13" ma:contentTypeDescription="Create a new document." ma:contentTypeScope="" ma:versionID="f65d4d2315325d3960b7edd542bfdaec">
  <xsd:schema xmlns:xsd="http://www.w3.org/2001/XMLSchema" xmlns:xs="http://www.w3.org/2001/XMLSchema" xmlns:p="http://schemas.microsoft.com/office/2006/metadata/properties" xmlns:ns3="067af09e-b50c-4ea7-b649-75ee11e4918f" xmlns:ns4="e9410c62-6784-4a1e-a4f9-81e71b4b0a18" targetNamespace="http://schemas.microsoft.com/office/2006/metadata/properties" ma:root="true" ma:fieldsID="680014d7936c339c39156096ab871581" ns3:_="" ns4:_="">
    <xsd:import namespace="067af09e-b50c-4ea7-b649-75ee11e4918f"/>
    <xsd:import namespace="e9410c62-6784-4a1e-a4f9-81e71b4b0a1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ObjectDetectorVersions" minOccurs="0"/>
                <xsd:element ref="ns3:MediaServiceAutoTags" minOccurs="0"/>
                <xsd:element ref="ns3:MediaLengthInSeconds" minOccurs="0"/>
                <xsd:element ref="ns3:MediaServiceGenerationTime" minOccurs="0"/>
                <xsd:element ref="ns3:MediaServiceEventHashCode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7af09e-b50c-4ea7-b649-75ee11e491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410c62-6784-4a1e-a4f9-81e71b4b0a1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0D5303-C52D-4D6F-9E8C-9D130C1DE811}">
  <ds:schemaRefs>
    <ds:schemaRef ds:uri="http://purl.org/dc/dcmitype/"/>
    <ds:schemaRef ds:uri="http://purl.org/dc/elements/1.1/"/>
    <ds:schemaRef ds:uri="http://purl.org/dc/terms/"/>
    <ds:schemaRef ds:uri="http://schemas.microsoft.com/office/2006/metadata/properties"/>
    <ds:schemaRef ds:uri="http://schemas.openxmlformats.org/package/2006/metadata/core-properties"/>
    <ds:schemaRef ds:uri="e9410c62-6784-4a1e-a4f9-81e71b4b0a18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067af09e-b50c-4ea7-b649-75ee11e4918f"/>
  </ds:schemaRefs>
</ds:datastoreItem>
</file>

<file path=customXml/itemProps2.xml><?xml version="1.0" encoding="utf-8"?>
<ds:datastoreItem xmlns:ds="http://schemas.openxmlformats.org/officeDocument/2006/customXml" ds:itemID="{50A1F3A5-4A95-46C2-866B-599A57A0B7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7af09e-b50c-4ea7-b649-75ee11e4918f"/>
    <ds:schemaRef ds:uri="e9410c62-6784-4a1e-a4f9-81e71b4b0a1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F02B2A2-986F-4EEA-AA18-EEF5F2FECD2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65065</TotalTime>
  <Words>746</Words>
  <Application>Microsoft Office PowerPoint</Application>
  <PresentationFormat>寬螢幕</PresentationFormat>
  <Paragraphs>168</Paragraphs>
  <Slides>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6" baseType="lpstr">
      <vt:lpstr>GenSekiGothic TW L</vt:lpstr>
      <vt:lpstr>GenSekiGothic TW R</vt:lpstr>
      <vt:lpstr>Noto Sans Light</vt:lpstr>
      <vt:lpstr>Source Sans 3</vt:lpstr>
      <vt:lpstr>微軟正黑體</vt:lpstr>
      <vt:lpstr>Aptos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南區預算20261005｜風險圈註版</dc:title>
  <dc:creator>沛慈 吳</dc:creator>
  <cp:lastModifiedBy>Silvia Lin 林姿杏-進金生太陽能</cp:lastModifiedBy>
  <cp:revision>236</cp:revision>
  <dcterms:created xsi:type="dcterms:W3CDTF">2023-11-15T08:37:53Z</dcterms:created>
  <dcterms:modified xsi:type="dcterms:W3CDTF">2026-10-06T00:38:20Z</dcterms:modified>
  <dc:subject>原內容保留，新增紅圈與R1–R7審閱註記；20261005機會清單基準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0x01010000749A5622746B43B505BCC946718888</vt:lpwstr>
  </property>
</Properties>
</file>